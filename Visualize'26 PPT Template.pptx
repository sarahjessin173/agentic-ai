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Hussar Bold" panose="020B0604020202020204" charset="0"/>
      <p:regular r:id="rId13"/>
    </p:embeddedFont>
    <p:embeddedFont>
      <p:font typeface="Norwester" panose="020B0604020202020204" charset="0"/>
      <p:regular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Bold" panose="02000000000000000000" charset="0"/>
      <p:regular r:id="rId19"/>
    </p:embeddedFont>
    <p:embeddedFont>
      <p:font typeface="Times New Roman MT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003" y="-177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52541" y="8765026"/>
            <a:ext cx="19464737" cy="3086100"/>
            <a:chOff x="0" y="0"/>
            <a:chExt cx="5126515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26515" cy="812800"/>
            </a:xfrm>
            <a:custGeom>
              <a:avLst/>
              <a:gdLst/>
              <a:ahLst/>
              <a:cxnLst/>
              <a:rect l="l" t="t" r="r" b="b"/>
              <a:pathLst>
                <a:path w="5126515" h="812800">
                  <a:moveTo>
                    <a:pt x="0" y="0"/>
                  </a:moveTo>
                  <a:lnTo>
                    <a:pt x="5126515" y="0"/>
                  </a:lnTo>
                  <a:lnTo>
                    <a:pt x="512651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26515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-1024196" y="5738089"/>
            <a:ext cx="2052896" cy="1796284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2931737"/>
            <a:ext cx="2052896" cy="1796284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7259300" y="4728021"/>
            <a:ext cx="2052896" cy="1796284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1024196" y="3941805"/>
            <a:ext cx="2052896" cy="1796284"/>
            <a:chOff x="0" y="0"/>
            <a:chExt cx="812800" cy="711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4577332" y="590225"/>
            <a:ext cx="2212466" cy="1884312"/>
          </a:xfrm>
          <a:custGeom>
            <a:avLst/>
            <a:gdLst/>
            <a:ahLst/>
            <a:cxnLst/>
            <a:rect l="l" t="t" r="r" b="b"/>
            <a:pathLst>
              <a:path w="2212466" h="1884312">
                <a:moveTo>
                  <a:pt x="0" y="0"/>
                </a:moveTo>
                <a:lnTo>
                  <a:pt x="2212466" y="0"/>
                </a:lnTo>
                <a:lnTo>
                  <a:pt x="2212466" y="1884312"/>
                </a:lnTo>
                <a:lnTo>
                  <a:pt x="0" y="1884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05" t="-13167" r="-9405" b="-26334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6400" y="568383"/>
            <a:ext cx="1791127" cy="1906154"/>
          </a:xfrm>
          <a:custGeom>
            <a:avLst/>
            <a:gdLst/>
            <a:ahLst/>
            <a:cxnLst/>
            <a:rect l="l" t="t" r="r" b="b"/>
            <a:pathLst>
              <a:path w="1791127" h="1906154">
                <a:moveTo>
                  <a:pt x="0" y="0"/>
                </a:moveTo>
                <a:lnTo>
                  <a:pt x="1791127" y="0"/>
                </a:lnTo>
                <a:lnTo>
                  <a:pt x="1791127" y="1906154"/>
                </a:lnTo>
                <a:lnTo>
                  <a:pt x="0" y="1906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2821207" y="9088876"/>
            <a:ext cx="14292714" cy="1079209"/>
            <a:chOff x="0" y="0"/>
            <a:chExt cx="19056952" cy="1438945"/>
          </a:xfrm>
        </p:grpSpPr>
        <p:sp>
          <p:nvSpPr>
            <p:cNvPr id="27" name="Freeform 27"/>
            <p:cNvSpPr/>
            <p:nvPr/>
          </p:nvSpPr>
          <p:spPr>
            <a:xfrm>
              <a:off x="3572077" y="245072"/>
              <a:ext cx="4548558" cy="948801"/>
            </a:xfrm>
            <a:custGeom>
              <a:avLst/>
              <a:gdLst/>
              <a:ahLst/>
              <a:cxnLst/>
              <a:rect l="l" t="t" r="r" b="b"/>
              <a:pathLst>
                <a:path w="4548558" h="948801">
                  <a:moveTo>
                    <a:pt x="0" y="0"/>
                  </a:moveTo>
                  <a:lnTo>
                    <a:pt x="4548558" y="0"/>
                  </a:lnTo>
                  <a:lnTo>
                    <a:pt x="4548558" y="948801"/>
                  </a:lnTo>
                  <a:lnTo>
                    <a:pt x="0" y="948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043" t="-9424" b="-49762"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10195495" y="169467"/>
              <a:ext cx="3375297" cy="1100011"/>
            </a:xfrm>
            <a:custGeom>
              <a:avLst/>
              <a:gdLst/>
              <a:ahLst/>
              <a:cxnLst/>
              <a:rect l="l" t="t" r="r" b="b"/>
              <a:pathLst>
                <a:path w="3375297" h="1100011">
                  <a:moveTo>
                    <a:pt x="0" y="0"/>
                  </a:moveTo>
                  <a:lnTo>
                    <a:pt x="3375297" y="0"/>
                  </a:lnTo>
                  <a:lnTo>
                    <a:pt x="3375297" y="1100011"/>
                  </a:lnTo>
                  <a:lnTo>
                    <a:pt x="0" y="1100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5196" b="-101645"/>
              </a:stretch>
            </a:blipFill>
          </p:spPr>
        </p:sp>
        <p:grpSp>
          <p:nvGrpSpPr>
            <p:cNvPr id="29" name="Group 29"/>
            <p:cNvGrpSpPr/>
            <p:nvPr/>
          </p:nvGrpSpPr>
          <p:grpSpPr>
            <a:xfrm>
              <a:off x="0" y="0"/>
              <a:ext cx="1438945" cy="1438945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13947" t="-60602" r="-18119" b="-63715"/>
                </a:stretch>
              </a:blipFill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1786039" y="0"/>
              <a:ext cx="1438945" cy="1438945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31556" t="-16823" r="-31036" b="-11630"/>
                </a:stretch>
              </a:blipFill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13917885" y="0"/>
              <a:ext cx="1438945" cy="1438945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3125" r="-3125"/>
                </a:stretch>
              </a:blipFill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15703924" y="0"/>
              <a:ext cx="1438945" cy="1438945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-6973" t="-53188" r="-12902" b="-50423"/>
                </a:stretch>
              </a:blipFill>
            </p:spPr>
          </p:sp>
        </p:grpSp>
        <p:sp>
          <p:nvSpPr>
            <p:cNvPr id="37" name="Freeform 37"/>
            <p:cNvSpPr/>
            <p:nvPr/>
          </p:nvSpPr>
          <p:spPr>
            <a:xfrm>
              <a:off x="8467728" y="29136"/>
              <a:ext cx="1380673" cy="1380673"/>
            </a:xfrm>
            <a:custGeom>
              <a:avLst/>
              <a:gdLst/>
              <a:ahLst/>
              <a:cxnLst/>
              <a:rect l="l" t="t" r="r" b="b"/>
              <a:pathLst>
                <a:path w="1380673" h="1380673">
                  <a:moveTo>
                    <a:pt x="0" y="0"/>
                  </a:moveTo>
                  <a:lnTo>
                    <a:pt x="1380673" y="0"/>
                  </a:lnTo>
                  <a:lnTo>
                    <a:pt x="1380673" y="1380673"/>
                  </a:lnTo>
                  <a:lnTo>
                    <a:pt x="0" y="1380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17489963" y="15580"/>
              <a:ext cx="1566989" cy="1407785"/>
            </a:xfrm>
            <a:custGeom>
              <a:avLst/>
              <a:gdLst/>
              <a:ahLst/>
              <a:cxnLst/>
              <a:rect l="l" t="t" r="r" b="b"/>
              <a:pathLst>
                <a:path w="1566989" h="1407785">
                  <a:moveTo>
                    <a:pt x="0" y="0"/>
                  </a:moveTo>
                  <a:lnTo>
                    <a:pt x="1566989" y="0"/>
                  </a:lnTo>
                  <a:lnTo>
                    <a:pt x="1566989" y="1407785"/>
                  </a:lnTo>
                  <a:lnTo>
                    <a:pt x="0" y="1407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4656" t="-35135" r="-1342" b="-32319"/>
              </a:stretch>
            </a:blipFill>
          </p:spPr>
        </p:sp>
      </p:grpSp>
      <p:sp>
        <p:nvSpPr>
          <p:cNvPr id="39" name="TextBox 39"/>
          <p:cNvSpPr txBox="1"/>
          <p:nvPr/>
        </p:nvSpPr>
        <p:spPr>
          <a:xfrm>
            <a:off x="2760004" y="2350712"/>
            <a:ext cx="1237485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PROJECT TITLE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990452" y="7639334"/>
            <a:ext cx="15764148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Members – </a:t>
            </a:r>
            <a:r>
              <a:rPr lang="en-US" sz="4056" b="1" spc="60" dirty="0" err="1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Jessin</a:t>
            </a: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Sarah , Fathima , Gayathri , Aseela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999866" y="5600283"/>
            <a:ext cx="12256701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Theme – Gamified Learning Mentor Agent 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990452" y="3677479"/>
            <a:ext cx="7686948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PS  ID – VH26-AI-03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990452" y="4687548"/>
            <a:ext cx="6299383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PS Title – Agentic AI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961640" y="6631698"/>
            <a:ext cx="8245867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Name – AFGJ Creators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049139" y="848937"/>
            <a:ext cx="9796582" cy="93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50"/>
              </a:lnSpc>
            </a:pPr>
            <a:r>
              <a:rPr lang="en-US" sz="5000" spc="575">
                <a:solidFill>
                  <a:srgbClr val="1D3616"/>
                </a:solidFill>
                <a:latin typeface="Norwester"/>
                <a:ea typeface="Norwester"/>
                <a:cs typeface="Norwester"/>
                <a:sym typeface="Norwester"/>
              </a:rPr>
              <a:t>Visualize’26 24hr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175534" y="853769"/>
            <a:ext cx="393693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ABSTRACT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57400" y="3162300"/>
            <a:ext cx="14154076" cy="5219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The Gamified Learning Mentor Agent is an AI – Powered educational platform designed to make learning more engaging and interactive for students . Traditional learning methods often lack motivation and real-time feedback , which can reduce student interest and participation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This project introduces a smart learning assistant that combines artificial intelligence and gamification techniques to improve the learning experience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By transforming learning into a game – like environment , the platform encourages continuous participation , improves knowledge retention and provides personalized guidance to learners .</a:t>
            </a:r>
          </a:p>
          <a:p>
            <a:pPr algn="ctr">
              <a:lnSpc>
                <a:spcPts val="4059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" name="Group 17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161096" y="853769"/>
            <a:ext cx="796580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PROBLEM STATEMENT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52801" y="3009900"/>
            <a:ext cx="11552338" cy="5745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Traditional learning methods often lack interactivity and engagement for students .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Many students lose motivation to study regularly because learning platforms feel boring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Students do not receive instant feedback or personalized guidance while learning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Lack of rewards are challenges makes learning less exciting and less effective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Therefore , there is a need for a smart learning system that makes education interactive , engaging and motivating .  </a:t>
            </a:r>
          </a:p>
          <a:p>
            <a:pPr algn="ctr">
              <a:lnSpc>
                <a:spcPts val="4059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32650" y="-4955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59314" y="853769"/>
            <a:ext cx="736937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EXISTING SOLUTION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3152958"/>
            <a:ext cx="15887700" cy="364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Most current learning platforms provides videos , notes and assignments only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They mainly focus on content delivery rather than student engagement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Students often feel bored and unmotivated while using traditional e-learning systems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Lack of interactive elements like rewards , levels and challenges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Limited personalized feedback for individual learning progress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4059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54796" y="853769"/>
            <a:ext cx="777840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PROPOSED SOLUTION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82863" y="3390365"/>
            <a:ext cx="11522275" cy="4693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Develop a Gamified Learning Mentor Agent that uses Artificial Intelligence and Gamified Techniques.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The system acts as an AI-based tutor that explains concepts and helps students learn interactively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Students participate in quizzes , challenges , and learning games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The platform provides points , badges , levels and leaderboards to motivate students .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It also tracks student progress and performance to provide personalized learning support .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03904" y="853769"/>
            <a:ext cx="708019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MARKET ANALYSIS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82863" y="3253819"/>
            <a:ext cx="11522275" cy="521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The global e-learning market is rapidly growing due to increased use of digital education platforms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Many students prefer interactive and flexible online learning systems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Popular platforms like Kahoot and Coursera use gamification and AI to improve engagement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However , many learning platforms still lack personalized AI mentoring combined Gamification .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This creates an opportunity to develop a Gamified Learning Mentor Agent that improves motivation and learning outcomes .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02122" y="853769"/>
            <a:ext cx="648375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SDG ALIGNMENTS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84470" y="3253819"/>
            <a:ext cx="15574830" cy="311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SDG 4: Quality Education  Promotes accessible and engaging digital learning for students .Uses  AI and gamification to improve education quality and learning outcomes. </a:t>
            </a:r>
          </a:p>
          <a:p>
            <a:pPr algn="ctr">
              <a:lnSpc>
                <a:spcPts val="4059"/>
              </a:lnSpc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SDG 9: Industry, Innovation and Infrastructure Encourages innovation in educational technology . Uses AI-powered learning systems to improve modern education infrastructure.</a:t>
            </a:r>
          </a:p>
          <a:p>
            <a:pPr algn="just">
              <a:lnSpc>
                <a:spcPts val="4059"/>
              </a:lnSpc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SDG 10: Reduced Inequalities Provides equal learning opportunities through digital platforms . Helps students from different backgrounds access personalized learning support.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08656" y="853769"/>
            <a:ext cx="867068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FINANCIAL ESTIMATION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7797820-899C-A92A-1FAF-B286FA810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440939"/>
              </p:ext>
            </p:extLst>
          </p:nvPr>
        </p:nvGraphicFramePr>
        <p:xfrm>
          <a:off x="2057400" y="2178071"/>
          <a:ext cx="9448800" cy="312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8256">
                  <a:extLst>
                    <a:ext uri="{9D8B030D-6E8A-4147-A177-3AD203B41FA5}">
                      <a16:colId xmlns:a16="http://schemas.microsoft.com/office/drawing/2014/main" val="3573820975"/>
                    </a:ext>
                  </a:extLst>
                </a:gridCol>
                <a:gridCol w="3590544">
                  <a:extLst>
                    <a:ext uri="{9D8B030D-6E8A-4147-A177-3AD203B41FA5}">
                      <a16:colId xmlns:a16="http://schemas.microsoft.com/office/drawing/2014/main" val="1703414465"/>
                    </a:ext>
                  </a:extLst>
                </a:gridCol>
              </a:tblGrid>
              <a:tr h="511747">
                <a:tc>
                  <a:txBody>
                    <a:bodyPr/>
                    <a:lstStyle/>
                    <a:p>
                      <a:r>
                        <a:rPr lang="en-IN" dirty="0"/>
                        <a:t>C0MPONENT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ESTIMATED COST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581978"/>
                  </a:ext>
                </a:extLst>
              </a:tr>
              <a:tr h="511747">
                <a:tc>
                  <a:txBody>
                    <a:bodyPr/>
                    <a:lstStyle/>
                    <a:p>
                      <a:r>
                        <a:rPr lang="en-IN" sz="2000" dirty="0"/>
                        <a:t>SOFTWARE DEVELOPMENT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939512"/>
                  </a:ext>
                </a:extLst>
              </a:tr>
              <a:tr h="511747">
                <a:tc>
                  <a:txBody>
                    <a:bodyPr/>
                    <a:lstStyle/>
                    <a:p>
                      <a:r>
                        <a:rPr lang="en-IN" dirty="0"/>
                        <a:t>AI API INTERGRATION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₹8,000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579743"/>
                  </a:ext>
                </a:extLst>
              </a:tr>
              <a:tr h="511747">
                <a:tc>
                  <a:txBody>
                    <a:bodyPr/>
                    <a:lstStyle/>
                    <a:p>
                      <a:r>
                        <a:rPr lang="en-IN" dirty="0"/>
                        <a:t>CLOUD HOSTING / SERVER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28263"/>
                  </a:ext>
                </a:extLst>
              </a:tr>
              <a:tr h="568977">
                <a:tc>
                  <a:txBody>
                    <a:bodyPr/>
                    <a:lstStyle/>
                    <a:p>
                      <a:r>
                        <a:rPr lang="en-IN" dirty="0"/>
                        <a:t>DATABASE SETUP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909297"/>
                  </a:ext>
                </a:extLst>
              </a:tr>
              <a:tr h="511747">
                <a:tc>
                  <a:txBody>
                    <a:bodyPr/>
                    <a:lstStyle/>
                    <a:p>
                      <a:r>
                        <a:rPr lang="en-IN" dirty="0"/>
                        <a:t>TESTING AND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43979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C842876-4F5A-8C11-B6C7-03B02D304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928578"/>
              </p:ext>
            </p:extLst>
          </p:nvPr>
        </p:nvGraphicFramePr>
        <p:xfrm>
          <a:off x="6261752" y="5600701"/>
          <a:ext cx="8941370" cy="3659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0685">
                  <a:extLst>
                    <a:ext uri="{9D8B030D-6E8A-4147-A177-3AD203B41FA5}">
                      <a16:colId xmlns:a16="http://schemas.microsoft.com/office/drawing/2014/main" val="823498580"/>
                    </a:ext>
                  </a:extLst>
                </a:gridCol>
                <a:gridCol w="4470685">
                  <a:extLst>
                    <a:ext uri="{9D8B030D-6E8A-4147-A177-3AD203B41FA5}">
                      <a16:colId xmlns:a16="http://schemas.microsoft.com/office/drawing/2014/main" val="346864651"/>
                    </a:ext>
                  </a:extLst>
                </a:gridCol>
              </a:tblGrid>
              <a:tr h="731970">
                <a:tc>
                  <a:txBody>
                    <a:bodyPr/>
                    <a:lstStyle/>
                    <a:p>
                      <a:r>
                        <a:rPr lang="en-IN" dirty="0"/>
                        <a:t>SEVICE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352533"/>
                  </a:ext>
                </a:extLst>
              </a:tr>
              <a:tr h="731970">
                <a:tc>
                  <a:txBody>
                    <a:bodyPr/>
                    <a:lstStyle/>
                    <a:p>
                      <a:r>
                        <a:rPr lang="en-IN" dirty="0"/>
                        <a:t>CLOUD HOSTING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₹1,500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812350"/>
                  </a:ext>
                </a:extLst>
              </a:tr>
              <a:tr h="731970">
                <a:tc>
                  <a:txBody>
                    <a:bodyPr/>
                    <a:lstStyle/>
                    <a:p>
                      <a:r>
                        <a:rPr lang="en-IN" dirty="0"/>
                        <a:t>AI API USAGE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511846"/>
                  </a:ext>
                </a:extLst>
              </a:tr>
              <a:tr h="731970">
                <a:tc>
                  <a:txBody>
                    <a:bodyPr/>
                    <a:lstStyle/>
                    <a:p>
                      <a:r>
                        <a:rPr lang="en-IN" dirty="0"/>
                        <a:t>MAINTENANCE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891837"/>
                  </a:ext>
                </a:extLst>
              </a:tr>
              <a:tr h="7319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2757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8334" y="853769"/>
            <a:ext cx="491133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CONCLUSION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5DA489-909F-F0AE-1952-D9F8CC093677}"/>
              </a:ext>
            </a:extLst>
          </p:cNvPr>
          <p:cNvSpPr txBox="1"/>
          <p:nvPr/>
        </p:nvSpPr>
        <p:spPr>
          <a:xfrm>
            <a:off x="2918291" y="3786191"/>
            <a:ext cx="1286059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>
                    <a:lumMod val="50000"/>
                  </a:schemeClr>
                </a:solidFill>
              </a:rPr>
              <a:t>The Gamified Learning Mentor Agent provides an innovative approach to modern education by combining Artificial Intelligence and gamification techniques.</a:t>
            </a:r>
          </a:p>
          <a:p>
            <a:r>
              <a:rPr lang="en-IN" sz="2800" b="1" dirty="0">
                <a:solidFill>
                  <a:schemeClr val="bg1">
                    <a:lumMod val="50000"/>
                  </a:schemeClr>
                </a:solidFill>
              </a:rPr>
              <a:t>This system makes learning more interactive, engaging, and motivating for students.</a:t>
            </a:r>
          </a:p>
          <a:p>
            <a:r>
              <a:rPr lang="en-IN" sz="2800" b="1" dirty="0">
                <a:solidFill>
                  <a:schemeClr val="bg1">
                    <a:lumMod val="50000"/>
                  </a:schemeClr>
                </a:solidFill>
              </a:rPr>
              <a:t>By providing AI-based explanations, quizzes, and reward systems, the platform encourages students to participate actively in the learning process.</a:t>
            </a:r>
          </a:p>
          <a:p>
            <a:r>
              <a:rPr lang="en-IN" sz="2800" b="1" dirty="0">
                <a:solidFill>
                  <a:schemeClr val="bg1">
                    <a:lumMod val="50000"/>
                  </a:schemeClr>
                </a:solidFill>
              </a:rPr>
              <a:t> It also helps track progress and improve knowledge retention.</a:t>
            </a:r>
          </a:p>
          <a:p>
            <a:r>
              <a:rPr lang="en-IN" sz="2800" b="1" dirty="0">
                <a:solidFill>
                  <a:schemeClr val="bg1">
                    <a:lumMod val="50000"/>
                  </a:schemeClr>
                </a:solidFill>
              </a:rPr>
              <a:t>Overall, this project demonstrates how technology can transform traditional learning into a fun and effective educational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1024196" y="5738089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259300" y="2931737"/>
            <a:ext cx="2052896" cy="1796284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10800000">
            <a:off x="17259300" y="4728021"/>
            <a:ext cx="2052896" cy="1796284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024196" y="3941805"/>
            <a:ext cx="2052896" cy="1796284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887146" y="853769"/>
            <a:ext cx="451370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REFERENCES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82863" y="3253819"/>
            <a:ext cx="12276374" cy="4693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3053" lvl="1" algn="ctr">
              <a:lnSpc>
                <a:spcPts val="4059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Python Official Documentation – https://www.python.org⁠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Flask Documentation – https://flask.palletsprojects.com⁠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Visual Studio Code – https://code.visualstudio.com⁠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Google Scholar – Research articles on AI in education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United Nations Sustainable Development Goals website – https://sdgs.un.org⁠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Online resources related to Gamification in Education</a:t>
            </a:r>
          </a:p>
          <a:p>
            <a:pPr algn="ctr">
              <a:lnSpc>
                <a:spcPts val="4059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0619" y="605961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1394147" y="5786240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5592" y="2850843"/>
            <a:ext cx="15893708" cy="6827275"/>
            <a:chOff x="0" y="0"/>
            <a:chExt cx="4078102" cy="17517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78102" cy="1751711"/>
            </a:xfrm>
            <a:custGeom>
              <a:avLst/>
              <a:gdLst/>
              <a:ahLst/>
              <a:cxnLst/>
              <a:rect l="l" t="t" r="r" b="b"/>
              <a:pathLst>
                <a:path w="4078102" h="1751711">
                  <a:moveTo>
                    <a:pt x="4078102" y="48711"/>
                  </a:moveTo>
                  <a:lnTo>
                    <a:pt x="4078102" y="1703000"/>
                  </a:lnTo>
                  <a:cubicBezTo>
                    <a:pt x="4078102" y="1715919"/>
                    <a:pt x="4072970" y="1728309"/>
                    <a:pt x="4063835" y="1737444"/>
                  </a:cubicBezTo>
                  <a:cubicBezTo>
                    <a:pt x="4054700" y="1746579"/>
                    <a:pt x="4042310" y="1751711"/>
                    <a:pt x="4029391" y="1751711"/>
                  </a:cubicBezTo>
                  <a:lnTo>
                    <a:pt x="48711" y="1751711"/>
                  </a:lnTo>
                  <a:cubicBezTo>
                    <a:pt x="21808" y="1751711"/>
                    <a:pt x="0" y="1729902"/>
                    <a:pt x="0" y="1703000"/>
                  </a:cubicBezTo>
                  <a:lnTo>
                    <a:pt x="0" y="48711"/>
                  </a:lnTo>
                  <a:cubicBezTo>
                    <a:pt x="0" y="21808"/>
                    <a:pt x="21808" y="0"/>
                    <a:pt x="48711" y="0"/>
                  </a:cubicBezTo>
                  <a:lnTo>
                    <a:pt x="4029391" y="0"/>
                  </a:lnTo>
                  <a:cubicBezTo>
                    <a:pt x="4056293" y="0"/>
                    <a:pt x="4078102" y="21808"/>
                    <a:pt x="4078102" y="48711"/>
                  </a:cubicBezTo>
                  <a:close/>
                </a:path>
              </a:pathLst>
            </a:custGeom>
            <a:solidFill>
              <a:srgbClr val="6DBF6C">
                <a:alpha val="46667"/>
              </a:srgbClr>
            </a:solidFill>
            <a:ln w="76200" cap="rnd">
              <a:solidFill>
                <a:srgbClr val="000000">
                  <a:alpha val="46667"/>
                </a:srgbClr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078102" cy="1789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4866237" y="-2354778"/>
            <a:ext cx="7421336" cy="6493669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548205" y="2795093"/>
            <a:ext cx="2052896" cy="1796284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7548205" y="4591377"/>
            <a:ext cx="2052896" cy="1796284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1394147" y="3989956"/>
            <a:ext cx="2052896" cy="1796284"/>
            <a:chOff x="0" y="0"/>
            <a:chExt cx="812800" cy="711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09279" y="3183842"/>
            <a:ext cx="15006333" cy="605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529" lvl="1" indent="-310264" algn="just">
              <a:lnSpc>
                <a:spcPts val="4023"/>
              </a:lnSpc>
              <a:buFont typeface="Arial"/>
              <a:buChar char="•"/>
            </a:pPr>
            <a:r>
              <a:rPr lang="en-US" sz="2874" b="1">
                <a:solidFill>
                  <a:srgbClr val="1D3616"/>
                </a:solidFill>
                <a:latin typeface="Roboto Bold"/>
                <a:ea typeface="Roboto Bold"/>
                <a:cs typeface="Roboto Bold"/>
                <a:sym typeface="Roboto Bold"/>
              </a:rPr>
              <a:t>Kindly keep the maximum slides limit up to six (10). ( Including the title slide) </a:t>
            </a:r>
          </a:p>
          <a:p>
            <a:pPr marL="620529" lvl="1" indent="-310264" algn="just">
              <a:lnSpc>
                <a:spcPts val="4023"/>
              </a:lnSpc>
              <a:buFont typeface="Arial"/>
              <a:buChar char="•"/>
            </a:pPr>
            <a:r>
              <a:rPr lang="en-US" sz="2874" b="1">
                <a:solidFill>
                  <a:srgbClr val="1D3616"/>
                </a:solidFill>
                <a:latin typeface="Roboto Bold"/>
                <a:ea typeface="Roboto Bold"/>
                <a:cs typeface="Roboto Bold"/>
                <a:sym typeface="Roboto Bold"/>
              </a:rPr>
              <a:t>Try to avoid paragraphs and post your idea in points /diagrams / Infographics /pictures </a:t>
            </a:r>
          </a:p>
          <a:p>
            <a:pPr marL="620529" lvl="1" indent="-310264" algn="just">
              <a:lnSpc>
                <a:spcPts val="4023"/>
              </a:lnSpc>
              <a:buFont typeface="Arial"/>
              <a:buChar char="•"/>
            </a:pPr>
            <a:r>
              <a:rPr lang="en-US" sz="2874" b="1">
                <a:solidFill>
                  <a:srgbClr val="1D3616"/>
                </a:solidFill>
                <a:latin typeface="Roboto Bold"/>
                <a:ea typeface="Roboto Bold"/>
                <a:cs typeface="Roboto Bold"/>
                <a:sym typeface="Roboto Bold"/>
              </a:rPr>
              <a:t>Keep your explanation precise and easy to understand</a:t>
            </a:r>
          </a:p>
          <a:p>
            <a:pPr marL="620529" lvl="1" indent="-310264" algn="just">
              <a:lnSpc>
                <a:spcPts val="4023"/>
              </a:lnSpc>
              <a:buFont typeface="Arial"/>
              <a:buChar char="•"/>
            </a:pPr>
            <a:r>
              <a:rPr lang="en-US" sz="2874" b="1">
                <a:solidFill>
                  <a:srgbClr val="1D3616"/>
                </a:solidFill>
                <a:latin typeface="Roboto Bold"/>
                <a:ea typeface="Roboto Bold"/>
                <a:cs typeface="Roboto Bold"/>
                <a:sym typeface="Roboto Bold"/>
              </a:rPr>
              <a:t>Idea should be unique and novel. </a:t>
            </a:r>
          </a:p>
          <a:p>
            <a:pPr marL="620529" lvl="1" indent="-310264" algn="just">
              <a:lnSpc>
                <a:spcPts val="4023"/>
              </a:lnSpc>
              <a:buFont typeface="Arial"/>
              <a:buChar char="•"/>
            </a:pPr>
            <a:r>
              <a:rPr lang="en-US" sz="2874" b="1">
                <a:solidFill>
                  <a:srgbClr val="1D3616"/>
                </a:solidFill>
                <a:latin typeface="Roboto Bold"/>
                <a:ea typeface="Roboto Bold"/>
                <a:cs typeface="Roboto Bold"/>
                <a:sym typeface="Roboto Bold"/>
              </a:rPr>
              <a:t>You can only use provided template for making the PPT without changing the idea details pointers (mentioned in previous slides).</a:t>
            </a:r>
          </a:p>
          <a:p>
            <a:pPr marL="620529" lvl="1" indent="-310264" algn="just">
              <a:lnSpc>
                <a:spcPts val="4023"/>
              </a:lnSpc>
              <a:buFont typeface="Arial"/>
              <a:buChar char="•"/>
            </a:pPr>
            <a:r>
              <a:rPr lang="en-US" sz="2874" b="1">
                <a:solidFill>
                  <a:srgbClr val="1D3616"/>
                </a:solidFill>
                <a:latin typeface="Roboto Bold"/>
                <a:ea typeface="Roboto Bold"/>
                <a:cs typeface="Roboto Bold"/>
                <a:sym typeface="Roboto Bold"/>
              </a:rPr>
              <a:t>You need to save the file in PDF and upload the same on portal. No PPT, Word Doc or any other format will be supported.</a:t>
            </a:r>
          </a:p>
          <a:p>
            <a:pPr algn="just">
              <a:lnSpc>
                <a:spcPts val="4023"/>
              </a:lnSpc>
            </a:pPr>
            <a:endParaRPr lang="en-US" sz="2874" b="1">
              <a:solidFill>
                <a:srgbClr val="1D3616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4023"/>
              </a:lnSpc>
            </a:pPr>
            <a:endParaRPr lang="en-US" sz="2874" b="1">
              <a:solidFill>
                <a:srgbClr val="1D3616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4023"/>
              </a:lnSpc>
            </a:pPr>
            <a:r>
              <a:rPr lang="en-US" sz="2874" b="1">
                <a:solidFill>
                  <a:srgbClr val="AD292F"/>
                </a:solidFill>
                <a:latin typeface="Roboto Bold"/>
                <a:ea typeface="Roboto Bold"/>
                <a:cs typeface="Roboto Bold"/>
                <a:sym typeface="Roboto Bold"/>
              </a:rPr>
              <a:t>Note - You should delete this slide (IMPORTANT INSTRUCTIONS) when you Submitting the details of your idea</a:t>
            </a:r>
            <a:r>
              <a:rPr lang="en-US" sz="2874" b="1">
                <a:solidFill>
                  <a:srgbClr val="1D3616"/>
                </a:solidFill>
                <a:latin typeface="Roboto Bold"/>
                <a:ea typeface="Roboto Bold"/>
                <a:cs typeface="Roboto Bold"/>
                <a:sym typeface="Roboto Bold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81642" y="2048987"/>
            <a:ext cx="14619347" cy="540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40"/>
              </a:lnSpc>
            </a:pPr>
            <a:r>
              <a:rPr lang="en-US" sz="3100" b="1">
                <a:solidFill>
                  <a:srgbClr val="1800AD"/>
                </a:solidFill>
                <a:latin typeface="Roboto Bold"/>
                <a:ea typeface="Roboto Bold"/>
                <a:cs typeface="Roboto Bold"/>
                <a:sym typeface="Roboto Bold"/>
              </a:rPr>
              <a:t>Please ensure below pointers are met while submitting the Idea PPT: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65592" y="853769"/>
            <a:ext cx="1555681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IMPORTANT INSTRUCTIONS</a:t>
            </a:r>
          </a:p>
        </p:txBody>
      </p:sp>
      <p:sp>
        <p:nvSpPr>
          <p:cNvPr id="27" name="Freeform 27"/>
          <p:cNvSpPr/>
          <p:nvPr/>
        </p:nvSpPr>
        <p:spPr>
          <a:xfrm>
            <a:off x="432650" y="525175"/>
            <a:ext cx="1571648" cy="1338540"/>
          </a:xfrm>
          <a:custGeom>
            <a:avLst/>
            <a:gdLst/>
            <a:ahLst/>
            <a:cxnLst/>
            <a:rect l="l" t="t" r="r" b="b"/>
            <a:pathLst>
              <a:path w="1571648" h="1338540">
                <a:moveTo>
                  <a:pt x="0" y="0"/>
                </a:moveTo>
                <a:lnTo>
                  <a:pt x="1571648" y="0"/>
                </a:lnTo>
                <a:lnTo>
                  <a:pt x="1571648" y="1338541"/>
                </a:lnTo>
                <a:lnTo>
                  <a:pt x="0" y="13385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05" t="-13167" r="-9405" b="-26334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2169880" y="525175"/>
            <a:ext cx="1170836" cy="1246028"/>
          </a:xfrm>
          <a:custGeom>
            <a:avLst/>
            <a:gdLst/>
            <a:ahLst/>
            <a:cxnLst/>
            <a:rect l="l" t="t" r="r" b="b"/>
            <a:pathLst>
              <a:path w="1170836" h="1246028">
                <a:moveTo>
                  <a:pt x="0" y="0"/>
                </a:moveTo>
                <a:lnTo>
                  <a:pt x="1170837" y="0"/>
                </a:lnTo>
                <a:lnTo>
                  <a:pt x="1170837" y="1246028"/>
                </a:lnTo>
                <a:lnTo>
                  <a:pt x="0" y="1246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811</Words>
  <Application>Microsoft Office PowerPoint</Application>
  <PresentationFormat>Custom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Hussar Bold</vt:lpstr>
      <vt:lpstr>Calibri</vt:lpstr>
      <vt:lpstr>Times New Roman MT Bold</vt:lpstr>
      <vt:lpstr>Roboto</vt:lpstr>
      <vt:lpstr>Norwester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Visualize'26 PPT Template</dc:title>
  <dc:creator>Banu Bharathi S</dc:creator>
  <cp:lastModifiedBy>Banu Bharathi S</cp:lastModifiedBy>
  <cp:revision>3</cp:revision>
  <dcterms:created xsi:type="dcterms:W3CDTF">2006-08-16T00:00:00Z</dcterms:created>
  <dcterms:modified xsi:type="dcterms:W3CDTF">2026-03-13T10:39:01Z</dcterms:modified>
  <dc:identifier>DAHDtWbs18g</dc:identifier>
</cp:coreProperties>
</file>